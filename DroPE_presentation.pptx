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8af14ada084e48" /><Relationship Type="http://schemas.openxmlformats.org/officeDocument/2006/relationships/extended-properties" Target="/docProps/app.xml" Id="R6d82aac05e0b42a4" /><Relationship Type="http://schemas.openxmlformats.org/officeDocument/2006/relationships/officeDocument" Target="/ppt/presentation.xml" Id="Rcd9511db7cc64a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233221e4474622"/>
  </p:sldMasterIdLst>
  <p:notesMasterIdLst>
    <p:notesMasterId xmlns:r="http://schemas.openxmlformats.org/officeDocument/2006/relationships" r:id="R0e41a1ab6d294c0a"/>
  </p:notesMasterIdLst>
  <p:sldIdLst>
    <p:sldId xmlns:r="http://schemas.openxmlformats.org/officeDocument/2006/relationships" id="256" r:id="R38ba22f82c80415f"/>
    <p:sldId xmlns:r="http://schemas.openxmlformats.org/officeDocument/2006/relationships" id="257" r:id="R8404f70c9d074b97"/>
    <p:sldId xmlns:r="http://schemas.openxmlformats.org/officeDocument/2006/relationships" id="258" r:id="Rb2dbb915c62f4560"/>
    <p:sldId xmlns:r="http://schemas.openxmlformats.org/officeDocument/2006/relationships" id="259" r:id="Rd2a1096cbc8b48cb"/>
    <p:sldId xmlns:r="http://schemas.openxmlformats.org/officeDocument/2006/relationships" id="260" r:id="R8e839a0b866a46f9"/>
    <p:sldId xmlns:r="http://schemas.openxmlformats.org/officeDocument/2006/relationships" id="261" r:id="R2b022c89411a47b7"/>
    <p:sldId xmlns:r="http://schemas.openxmlformats.org/officeDocument/2006/relationships" id="262" r:id="R348f9de378a948f2"/>
    <p:sldId xmlns:r="http://schemas.openxmlformats.org/officeDocument/2006/relationships" id="263" r:id="Rbe3ad85873a245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2930128694455d" /><Relationship Type="http://schemas.openxmlformats.org/officeDocument/2006/relationships/slideMaster" Target="/ppt/slideMasters/slideMaster1.xml" Id="R1e233221e4474622" /><Relationship Type="http://schemas.openxmlformats.org/officeDocument/2006/relationships/notesMaster" Target="/ppt/notesMasters/notesMaster1.xml" Id="R0e41a1ab6d294c0a" /><Relationship Type="http://schemas.openxmlformats.org/officeDocument/2006/relationships/presProps" Target="/ppt/presProps.xml" Id="Rdddcd2ba7ab6436e" /><Relationship Type="http://schemas.openxmlformats.org/officeDocument/2006/relationships/tableStyles" Target="/ppt/tableStyles.xml" Id="R8576d2103cd9451f" /><Relationship Type="http://schemas.openxmlformats.org/officeDocument/2006/relationships/slide" Target="/ppt/slides/slide1.xml" Id="R38ba22f82c80415f" /><Relationship Type="http://schemas.openxmlformats.org/officeDocument/2006/relationships/slide" Target="/ppt/slides/slide2.xml" Id="R8404f70c9d074b97" /><Relationship Type="http://schemas.openxmlformats.org/officeDocument/2006/relationships/slide" Target="/ppt/slides/slide3.xml" Id="Rb2dbb915c62f4560" /><Relationship Type="http://schemas.openxmlformats.org/officeDocument/2006/relationships/slide" Target="/ppt/slides/slide4.xml" Id="Rd2a1096cbc8b48cb" /><Relationship Type="http://schemas.openxmlformats.org/officeDocument/2006/relationships/slide" Target="/ppt/slides/slide5.xml" Id="R8e839a0b866a46f9" /><Relationship Type="http://schemas.openxmlformats.org/officeDocument/2006/relationships/slide" Target="/ppt/slides/slide6.xml" Id="R2b022c89411a47b7" /><Relationship Type="http://schemas.openxmlformats.org/officeDocument/2006/relationships/slide" Target="/ppt/slides/slide7.xml" Id="R348f9de378a948f2" /><Relationship Type="http://schemas.openxmlformats.org/officeDocument/2006/relationships/slide" Target="/ppt/slides/slide8.xml" Id="Rbe3ad85873a245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0715e0a3a1646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aeab2882384ebb" /><Relationship Type="http://schemas.openxmlformats.org/officeDocument/2006/relationships/notesMaster" Target="/ppt/notesMasters/notesMaster1.xml" Id="R0b6f5eb907d04f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18b6e465a6473f" /><Relationship Type="http://schemas.openxmlformats.org/officeDocument/2006/relationships/notesMaster" Target="/ppt/notesMasters/notesMaster1.xml" Id="Rb6599657d2c544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4e5901d7814ae4" /><Relationship Type="http://schemas.openxmlformats.org/officeDocument/2006/relationships/notesMaster" Target="/ppt/notesMasters/notesMaster1.xml" Id="R5accfc70ae2b4f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80c9aadbd36435c" /><Relationship Type="http://schemas.openxmlformats.org/officeDocument/2006/relationships/notesMaster" Target="/ppt/notesMasters/notesMaster1.xml" Id="R5f8467f82c2b4a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6da06324784364" /><Relationship Type="http://schemas.openxmlformats.org/officeDocument/2006/relationships/notesMaster" Target="/ppt/notesMasters/notesMaster1.xml" Id="R6532e578977948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c30c8a2cf8486c" /><Relationship Type="http://schemas.openxmlformats.org/officeDocument/2006/relationships/notesMaster" Target="/ppt/notesMasters/notesMaster1.xml" Id="R28fdbf8bb3b748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87a547fa27247d9" /><Relationship Type="http://schemas.openxmlformats.org/officeDocument/2006/relationships/notesMaster" Target="/ppt/notesMasters/notesMaster1.xml" Id="R304d49737bb540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99e9363aab4c5e" /><Relationship Type="http://schemas.openxmlformats.org/officeDocument/2006/relationships/notesMaster" Target="/ppt/notesMasters/notesMaster1.xml" Id="Rafb0e78bcc7f45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Gelberg et al., arXiv:2512.12167v1. https://arxiv.org/html/2512.12167v1</a:t>
            </a:r>
          </a:p>
          <a:p xmlns:a="http://schemas.openxmlformats.org/drawingml/2006/main">
            <a:r>
              <a:t>Доклад: метод, опубликованные результаты и сокращенное локальное воспроизведение. Авторы: Yoav Gelberg, Koshi Eguchi, Takuya Akiba, Edoardo Cetin.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Gelberg et al., arXiv:2512.12167v1. https://arxiv.org/html/2512.12167v1</a:t>
            </a:r>
          </a:p>
          <a:p xmlns:a="http://schemas.openxmlformats.org/drawingml/2006/main">
            <a:r>
              <a:t>RoPE задает повороты Q/K по позиции. За пределами обучающего контекста фазы оказываются вне распределения. Масштабирование частот может сохранить PPL, но нарушить извлечение удаленной информации. Рисунок авторов: https://pub.sakana.ai/DroPE/assets/figures/rope_yarn_crop.png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Gelberg et al., arXiv:2512.12167v1. https://arxiv.org/html/2512.12167v1</a:t>
            </a:r>
          </a:p>
          <a:p xmlns:a="http://schemas.openxmlformats.org/drawingml/2006/main">
            <a:r>
              <a:t>1. Предобучение с RoPE. 2. Удаление RoPE во всех слоях, сохранение causal mask. 3. Продолжение LM-обучения при исходной длине контекста. Затем оценка на более длинных последовательностях. Zero-shot относится к новым длинам после рекалибровки. Иллюстрация авторов, не локальная кривая: https://github.com/SakanaAI/DroPE/blob/main/visuals/drope.gif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Gelberg et al., arXiv:2512.12167v1. https://arxiv.org/html/2512.12167v1</a:t>
            </a:r>
          </a:p>
          <a:p xmlns:a="http://schemas.openxmlformats.org/drawingml/2006/main">
            <a:r>
              <a:t>Утверждение 3.2: на последовательности одинаковых токенов NoPE дает uniform attention и одинаковые выходы, Q/K gradients vanish. При близких случайных embeddings NoPE медленнее развивает positional bias. Это не утверждение, что причинная модель полностью теряет порядок. Figure 2 сравнивает одинаковый бюджет: 16B RoPE, 16B NoPE, 14B RoPE + 2B DroPE.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Gelberg et al., arXiv:2512.12167v1. https://arxiv.org/html/2512.12167v1</a:t>
            </a:r>
          </a:p>
          <a:p xmlns:a="http://schemas.openxmlformats.org/drawingml/2006/main">
            <a:r>
              <a:t>Таблица 2: SmolLM-360M, пять задач. Avg = среднее разнородных task scores, не единая accuracy. NIAH score отдельно. Все числа авторские и локально не воспроизведены. DroPE не лучший на GovReport: RoPE-NTK 23.71 против 21.87.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Фактическая конфигурация: {"python":"3.12.14","platform":"Windows-11-10.0.26200-SP0","torch":"2.8.0+cpu","transformers":"4.56.2","device":"cpu","threads":8,"cuda_available":false}</a:t>
            </a:r>
          </a:p>
          <a:p xmlns:a="http://schemas.openxmlformats.org/drawingml/2006/main">
            <a:r>
              <a:t>{"steps":16,"sequence_length":256,"batch_size":1,"tokens":4096,"optimizer":"AdamW","learning_rate":0.00003,"weight_decay":0.1,"qknorm":false,"schedule":"constant","note":"micro-budget and different data from the paper"}</a:t>
            </a:r>
          </a:p>
          <a:p xmlns:a="http://schemas.openxmlformats.org/drawingml/2006/main">
            <a:r>
              <a:t>Код: vendor/custom_models/attention.py, upstream commit 260a8bb9f4fda0673266ddfee7668915aade8b33. Данные WikiText-2, разные train/test. Одно test prefix на длину, без статистической оценки. Это абляция механизма, не полное воспроизведение статьи.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Локальные числа: outputs/code/results/local.json. Перплексия по одной последовательности на длину. Одинаковые токены для трех режимов внутри каждой длины. Максимальная длина native model 2048, 4096 = 2x. Сама возможность forward на 4096 не доказывает успешное использование полного контекста.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Код авторов запущен на CPU в Windows. Готовый авторский 7B checkpoint проверен только на доступ к config/index/первому 1MiB весов. Полная генерация 7B и LongBench не запускались. CUDA/NF4 сценарий подготовлен, но не валидирован полным инференсом. Выводы ограничены локальными structural checks и абляцией. Источники: статья, GitHub, HuggingFace и локальные JSON/логи.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f256a83b2148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dd09fc425a49bd" /><Relationship Type="http://schemas.openxmlformats.org/officeDocument/2006/relationships/slideLayout" Target="/ppt/slideLayouts/slideLayout1.xml" Id="R4e57af546efd412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57af546efd412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d1a73a01e4b4f" /><Relationship Type="http://schemas.openxmlformats.org/officeDocument/2006/relationships/notesSlide" Target="/ppt/notesSlides/notesSlide1.xml" Id="Re2ef983c4f1c453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1830bc77d4a96" /><Relationship Type="http://schemas.openxmlformats.org/officeDocument/2006/relationships/image" Target="/ppt/media/image.png" Id="R7f48c729dbda45c6" /><Relationship Type="http://schemas.openxmlformats.org/officeDocument/2006/relationships/notesSlide" Target="/ppt/notesSlides/notesSlide2.xml" Id="R835b8e35a49a42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8be08453c74623" /><Relationship Type="http://schemas.openxmlformats.org/officeDocument/2006/relationships/image" Target="/ppt/media/image2.png" Id="R490e65bfaed446fc" /><Relationship Type="http://schemas.openxmlformats.org/officeDocument/2006/relationships/notesSlide" Target="/ppt/notesSlides/notesSlide3.xml" Id="R301b123636fc46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a75dc146b46c0" /><Relationship Type="http://schemas.openxmlformats.org/officeDocument/2006/relationships/image" Target="/ppt/media/image3.png" Id="R0fb3f967aea74107" /><Relationship Type="http://schemas.openxmlformats.org/officeDocument/2006/relationships/notesSlide" Target="/ppt/notesSlides/notesSlide4.xml" Id="Rc6e1dcd9703c4b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f1ea85c2444b2" /><Relationship Type="http://schemas.openxmlformats.org/officeDocument/2006/relationships/notesSlide" Target="/ppt/notesSlides/notesSlide5.xml" Id="Rc2c941e072f749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28267888ec4add" /><Relationship Type="http://schemas.openxmlformats.org/officeDocument/2006/relationships/notesSlide" Target="/ppt/notesSlides/notesSlide6.xml" Id="R3fed1aef2e6e49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0ff3118e94e79" /><Relationship Type="http://schemas.openxmlformats.org/officeDocument/2006/relationships/notesSlide" Target="/ppt/notesSlides/notesSlide7.xml" Id="Ra5cd43a7dc9c45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6b8d97d36415c" /><Relationship Type="http://schemas.openxmlformats.org/officeDocument/2006/relationships/notesSlide" Target="/ppt/notesSlides/notesSlide8.xml" Id="R9ec37d25879c4b3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9C7378-A381-4089-8BE6-3E839D3A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DroPE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92CF9-F75B-4896-899C-1A95A2D6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Расширение контекста LLM</a:t>
            </a:r>
          </a:p>
          <a:p xmlns:a="http://schemas.openxmlformats.org/drawingml/2006/main">
            <a:pPr>
              <a:defRPr sz="36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после удаления позиционных эмбеддингов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F31E8-9E87-459F-A108-3AA42DA4D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28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Extending the Context of Pretrained LLMs</a:t>
            </a:r>
          </a:p>
          <a:p xmlns:a="http://schemas.openxmlformats.org/drawingml/2006/main">
            <a:pPr>
              <a:defRPr sz="22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by Dropping Their Positional Embeddings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D83BE9-E43B-4792-9994-7B4CE28BF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Gelberg et al.  /  Sakana AI, University of Oxford  /  2025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8F80D1-7948-407B-8CDD-603A9F3DB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2836810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F36A1-3C46-46ED-9A52-F991C0C1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Почему длинный контекст ломается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729CA9-231E-4ACB-B156-0101846C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RoPE помогает обучению, но на новых длинах меняет поведение attention.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8c729dbda45c6"/>
          <a:stretch xmlns:a="http://schemas.openxmlformats.org/drawingml/2006/main"/>
        </p:blipFill>
        <p:spPr>
          <a:xfrm xmlns:a="http://schemas.openxmlformats.org/drawingml/2006/main">
            <a:off x="2299749" y="2428875"/>
            <a:ext cx="7592503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0807AA-66F6-47FA-A141-1E389019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Хорошая перплексия еще не гарантирует поиск факта в длинном тексте.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719CB-47BB-452C-BC6A-1AE8179C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127525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8907C2-EABF-496E-862F-EAFE3640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Метод DroPE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94FDF-486F-4D18-9ABB-EE1A1715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Предобучение с RoPE. Затем удаление RoPE и рекалибровка на коротком контексте.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0e65bfaed446fc"/>
          <a:stretch xmlns:a="http://schemas.openxmlformats.org/drawingml/2006/main"/>
        </p:blipFill>
        <p:spPr>
          <a:xfrm xmlns:a="http://schemas.openxmlformats.org/drawingml/2006/main">
            <a:off x="1651000" y="2428875"/>
            <a:ext cx="8890000" cy="3333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2B94F4-4A4C-4A34-93EC-D10EC16B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87E8B"/>
                </a:solidFill>
                <a:latin typeface="Arial"/>
                <a:ea typeface="Arial"/>
                <a:cs typeface="Arial"/>
              </a:rPr>
              <a:t>Causal mask остается. Длинные последовательности не нужны для рекалибровки.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F5B8B8-E28E-4D02-8908-2F385F19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062261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3DD3F7-8C76-4426-8D4E-5CE63A6D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Почему RoPE полезен именно в обучении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92EBE4-6BEA-4DFC-92C4-55EE3837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Без RoPE позиционные закономерности труднее выучить с нуля.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3f967aea74107"/>
          <a:stretch xmlns:a="http://schemas.openxmlformats.org/drawingml/2006/main"/>
        </p:blipFill>
        <p:spPr>
          <a:xfrm xmlns:a="http://schemas.openxmlformats.org/drawingml/2006/main">
            <a:off x="1452563" y="2286000"/>
            <a:ext cx="9286875" cy="309562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0F428-5656-446E-89F7-69EE7BE4C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7E8B"/>
                </a:solidFill>
                <a:latin typeface="Arial"/>
                <a:ea typeface="Arial"/>
                <a:cs typeface="Arial"/>
              </a:rPr>
              <a:t>Результат авторов: 14B токенов с RoPE + 2B после удаления</a:t>
            </a:r>
          </a:p>
          <a:p xmlns:a="http://schemas.openxmlformats.org/drawingml/2006/main">
            <a:pPr>
              <a:defRPr sz="2100" b="0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87E8B"/>
                </a:solidFill>
                <a:latin typeface="Arial"/>
                <a:ea typeface="Arial"/>
                <a:cs typeface="Arial"/>
              </a:rPr>
              <a:t>достигают качества RoPE при том же общем бюджете.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9AFD0-811A-48C9-A68E-02893D6F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925998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407A8-1D71-4B1B-997F-7AF4B9C61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Опубликованные результаты авторов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A19903-F664-422C-B4F6-FF32B7FE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SmolLM-360M: LongBench и поиск «иголки» в контексте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85800" y="2190750"/>
          <a:ext xmlns:a="http://schemas.openxmlformats.org/drawingml/2006/main" cx="108204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19750"/>
                <a:gridCol w="2619375"/>
                <a:gridCol w="2581275"/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Метод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Средний score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NIAH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Исходная модель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0,00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RoPE-NTK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17,11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29,84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YaRN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19,94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48,25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DroPE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30,52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74,92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04368-353D-4440-9CC6-A38842B1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25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Таблица 2 статьи. Эти значения получены авторами.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66ED27-3CE1-4A5F-A07A-154E17D8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582202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89CD8-B233-4064-9FF0-32BBAB4E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Локальный эксперимент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C21DE-6B47-4D51-A1C6-65A1ECE1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SmolLM-360M и неизмененный NoPE attention из кода авторов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E59135-FBC0-49E7-877E-7B77A9BC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108204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Сравнение: RoPE, удаление без обучения, микрорекалибровка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WikiText-2: отдельные train и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16 шагов по 256 токенов, всего 4096 обучающих токенов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Перплексия на префиксах длиной 256, 2048 и 4096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712E07-1969-4498-BC4C-7A3F42F9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4210247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B4F53B-EB67-418F-8975-2A045EAB9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Результаты локального запуска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D3A20-F3F0-41E3-B494-BE9DF7D3B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Перплексия, меньше лучше. Одна test-последовательность на длину.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85800" y="2381250"/>
          <a:ext xmlns:a="http://schemas.openxmlformats.org/drawingml/2006/main" cx="1082040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1952625"/>
                <a:gridCol w="1952625"/>
                <a:gridCol w="1962150"/>
              </a:tblGrid>
              <a:tr h="61912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Режим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256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2048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4096</a:t>
                      </a:r>
                    </a:p>
                  </a:txBody>
                  <a:tcPr marL="91440" marR="91440" marT="45720" marB="45720">
                    <a:solidFill>
                      <a:srgbClr val="173544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Исходная RoPE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63,2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Удаление без обучения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270,1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491,7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541,5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После 16 шагов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135,0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258,6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73544"/>
                          </a:solidFill>
                          <a:latin typeface="Arial"/>
                          <a:ea typeface="Arial"/>
                          <a:cs typeface="Arial"/>
                        </a:rPr>
                        <a:t>296,2</a:t>
                      </a:r>
                    </a:p>
                  </a:txBody>
                  <a:tcPr marL="91440" marR="91440" marT="45720" marB="45720">
                    <a:solidFill>
                      <a:srgbClr val="F0F6F7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7BC983-BBE4-42C0-81FD-05D27104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Структурные проверки прошли: causal mask и uniform attention.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Малый бюджет не позволяет подтвердить числа статьи.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31DFED-B873-4A95-8F51-40FDFCD8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0767798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EE0BC-01D7-484C-A796-1524BC3BF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3544"/>
                </a:solidFill>
                <a:latin typeface="Arial"/>
                <a:ea typeface="Arial"/>
                <a:cs typeface="Arial"/>
              </a:rPr>
              <a:t>Что удалось воспроизвести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B626F-88A5-45B2-8A07-83A615C6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8204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Запущены код авторов, структурные проверки</a:t>
            </a:r>
          </a:p>
          <a:p xmlns:a="http://schemas.openxmlformats.org/drawingml/2006/main">
            <a:pPr>
              <a:defRPr sz="28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и сокращенная абляция на pretrained SmolLM.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8B5AE1-9486-4F2A-BF68-4422A07F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108204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Проверен доступ к готовому checkpoint Llama-2-7B-DroPE.</a:t>
            </a:r>
          </a:p>
          <a:p xmlns:a="http://schemas.openxmlformats.org/drawingml/2006/main">
            <a:pPr>
              <a:defRPr sz="2175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Полный инференс 7B и LongBench остаются за рамками запуска.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DroPE требует рекалибровки. Размер ее бюджета влияет на результат.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75" b="0">
                <a:solidFill>
                  <a:srgbClr val="1735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73544"/>
                </a:solidFill>
                <a:latin typeface="Arial"/>
                <a:ea typeface="Arial"/>
                <a:cs typeface="Arial"/>
              </a:rPr>
              <a:t>Для сдачи: презентация, отчет, код и фактические логи.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3F4CF-ABCE-4015-B074-3FB086D8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48425"/>
            <a:ext cx="33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860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606B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323061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2026-10-09T14:25:16.1210000Z</dcterms:created>
  <dcterms:modified xsi:type="dcterms:W3CDTF">2026-10-09T14:25:16.1210000Z</dcterms:modified>
</coreProperties>
</file>