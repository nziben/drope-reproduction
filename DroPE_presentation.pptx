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044d6f6f04f0b" /><Relationship Type="http://schemas.openxmlformats.org/officeDocument/2006/relationships/extended-properties" Target="/docProps/app.xml" Id="Ra1072c79dc764e7c" /><Relationship Type="http://schemas.openxmlformats.org/officeDocument/2006/relationships/officeDocument" Target="/ppt/presentation.xml" Id="Rc3ba9c111273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782c1e0d04cb4"/>
  </p:sldMasterIdLst>
  <p:notesMasterIdLst>
    <p:notesMasterId xmlns:r="http://schemas.openxmlformats.org/officeDocument/2006/relationships" r:id="Rdf9c2cb7331f4523"/>
  </p:notesMasterIdLst>
  <p:sldIdLst>
    <p:sldId xmlns:r="http://schemas.openxmlformats.org/officeDocument/2006/relationships" id="256" r:id="R445debc888e94ba5"/>
    <p:sldId xmlns:r="http://schemas.openxmlformats.org/officeDocument/2006/relationships" id="257" r:id="Rd26e367302384f3a"/>
    <p:sldId xmlns:r="http://schemas.openxmlformats.org/officeDocument/2006/relationships" id="258" r:id="R3496e53ff27c4859"/>
    <p:sldId xmlns:r="http://schemas.openxmlformats.org/officeDocument/2006/relationships" id="259" r:id="Rd1d0b930725241cd"/>
    <p:sldId xmlns:r="http://schemas.openxmlformats.org/officeDocument/2006/relationships" id="260" r:id="Rf1b0c605f7e14eec"/>
    <p:sldId xmlns:r="http://schemas.openxmlformats.org/officeDocument/2006/relationships" id="261" r:id="Rf0506515d12f4ca8"/>
    <p:sldId xmlns:r="http://schemas.openxmlformats.org/officeDocument/2006/relationships" id="262" r:id="R8a54493acc5c4e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50a9b50bc4759" /><Relationship Type="http://schemas.openxmlformats.org/officeDocument/2006/relationships/slideMaster" Target="/ppt/slideMasters/slideMaster1.xml" Id="Rb16782c1e0d04cb4" /><Relationship Type="http://schemas.openxmlformats.org/officeDocument/2006/relationships/notesMaster" Target="/ppt/notesMasters/notesMaster1.xml" Id="Rdf9c2cb7331f4523" /><Relationship Type="http://schemas.openxmlformats.org/officeDocument/2006/relationships/presProps" Target="/ppt/presProps.xml" Id="Ra962c1873fab4f62" /><Relationship Type="http://schemas.openxmlformats.org/officeDocument/2006/relationships/tableStyles" Target="/ppt/tableStyles.xml" Id="R6bd2010c09904868" /><Relationship Type="http://schemas.openxmlformats.org/officeDocument/2006/relationships/slide" Target="/ppt/slides/slide1.xml" Id="R445debc888e94ba5" /><Relationship Type="http://schemas.openxmlformats.org/officeDocument/2006/relationships/slide" Target="/ppt/slides/slide2.xml" Id="Rd26e367302384f3a" /><Relationship Type="http://schemas.openxmlformats.org/officeDocument/2006/relationships/slide" Target="/ppt/slides/slide3.xml" Id="R3496e53ff27c4859" /><Relationship Type="http://schemas.openxmlformats.org/officeDocument/2006/relationships/slide" Target="/ppt/slides/slide4.xml" Id="Rd1d0b930725241cd" /><Relationship Type="http://schemas.openxmlformats.org/officeDocument/2006/relationships/slide" Target="/ppt/slides/slide5.xml" Id="Rf1b0c605f7e14eec" /><Relationship Type="http://schemas.openxmlformats.org/officeDocument/2006/relationships/slide" Target="/ppt/slides/slide6.xml" Id="Rf0506515d12f4ca8" /><Relationship Type="http://schemas.openxmlformats.org/officeDocument/2006/relationships/slide" Target="/ppt/slides/slide7.xml" Id="R8a54493acc5c4e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c953f753a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9730b59a24851" /><Relationship Type="http://schemas.openxmlformats.org/officeDocument/2006/relationships/notesMaster" Target="/ppt/notesMasters/notesMaster1.xml" Id="Rf30a312e59a34a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9e8dac1e3d48b4" /><Relationship Type="http://schemas.openxmlformats.org/officeDocument/2006/relationships/notesMaster" Target="/ppt/notesMasters/notesMaster1.xml" Id="R10e59f182dd1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9a1f1256b45ca" /><Relationship Type="http://schemas.openxmlformats.org/officeDocument/2006/relationships/notesMaster" Target="/ppt/notesMasters/notesMaster1.xml" Id="Rfd725d36a2e6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25f085dc1c4803" /><Relationship Type="http://schemas.openxmlformats.org/officeDocument/2006/relationships/notesMaster" Target="/ppt/notesMasters/notesMaster1.xml" Id="Rba162491de5d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4cce5f11a44a75" /><Relationship Type="http://schemas.openxmlformats.org/officeDocument/2006/relationships/notesMaster" Target="/ppt/notesMasters/notesMaster1.xml" Id="R2c991325e92b4b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b89a0e97ab4f67" /><Relationship Type="http://schemas.openxmlformats.org/officeDocument/2006/relationships/notesMaster" Target="/ppt/notesMasters/notesMaster1.xml" Id="Rbc36ec638a26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81bd1052574fb0" /><Relationship Type="http://schemas.openxmlformats.org/officeDocument/2006/relationships/notesMaster" Target="/ppt/notesMasters/notesMaster1.xml" Id="Rd5ef74c654a5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Gelberg et al., arXiv:2512.12167v1. https://arxiv.org/html/2512.12167v1</a:t>
            </a:r>
          </a:p>
          <a:p xmlns:a="http://schemas.openxmlformats.org/drawingml/2006/main">
            <a:r>
              <a:t>Доклад: метод, опубликованные результаты и сокращенное локальное воспроизведение. Авторы: Yoav Gelberg, Koshi Eguchi, Takuya Akiba, Edoardo Cetin.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Gelberg et al., arXiv:2512.12167v1. https://arxiv.org/html/2512.12167v1</a:t>
            </a:r>
          </a:p>
          <a:p xmlns:a="http://schemas.openxmlformats.org/drawingml/2006/main">
            <a:r>
              <a:t>RoPE задает повороты Q/K по позиции. За пределами обучающего контекста фазы оказываются вне распределения. Масштабирование частот может сохранить PPL, но нарушить извлечение удаленной информации. Рисунок авторов: https://pub.sakana.ai/DroPE/assets/figures/rope_yarn_crop.png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Gelberg et al., arXiv:2512.12167v1. https://arxiv.org/html/2512.12167v1</a:t>
            </a:r>
          </a:p>
          <a:p xmlns:a="http://schemas.openxmlformats.org/drawingml/2006/main">
            <a:r>
              <a:t>1. Предобучение с RoPE. 2. Удаление RoPE во всех слоях, сохранение causal mask. 3. Продолжение LM-обучения при исходной длине контекста. Затем оценка на более длинных последовательностях. Zero-shot относится к новым длинам после рекалибровки. Иллюстрация авторов, не локальная кривая: https://github.com/SakanaAI/DroPE/blob/main/visuals/drope.gif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Gelberg et al., arXiv:2512.12167v1. https://arxiv.org/html/2512.12167v1</a:t>
            </a:r>
          </a:p>
          <a:p xmlns:a="http://schemas.openxmlformats.org/drawingml/2006/main">
            <a:r>
              <a:t>Утверждение 3.2: на последовательности одинаковых токенов NoPE дает uniform attention и одинаковые выходы, Q/K gradients vanish. При близких случайных embeddings NoPE медленнее развивает positional bias. Это не утверждение, что причинная модель полностью теряет порядок. Figure 2 сравнивает одинаковый бюджет: 16B RoPE, 16B NoPE, 14B RoPE + 2B DroPE.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Gelberg et al., arXiv:2512.12167v1. https://arxiv.org/html/2512.12167v1</a:t>
            </a:r>
          </a:p>
          <a:p xmlns:a="http://schemas.openxmlformats.org/drawingml/2006/main">
            <a:r>
              <a:t>Таблица 2: SmolLM-360M, пять задач. Avg = среднее разнородных task scores, не единая accuracy. NIAH score отдельно. Все числа авторские и локально не воспроизведены. DroPE не лучший на GovReport: RoPE-NTK 23.71 против 21.87.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конфигурация: {"python":"3.12.14","platform":"Windows-11-10.0.26200-SP0","torch":"2.8.0+cpu","transformers":"4.56.2","device":"cpu","threads":8,"cuda_available":false}</a:t>
            </a:r>
          </a:p>
          <a:p xmlns:a="http://schemas.openxmlformats.org/drawingml/2006/main">
            <a:r>
              <a:t>{"steps":16,"sequence_length":256,"batch_size":1,"tokens":4096,"optimizer":"AdamW","learning_rate":0.00003,"weight_decay":0.1,"qknorm":false,"schedule":"constant","note":"micro-budget and different data from the paper"}</a:t>
            </a:r>
          </a:p>
          <a:p xmlns:a="http://schemas.openxmlformats.org/drawingml/2006/main">
            <a:r>
              <a:t>Код: vendor/custom_models/attention.py, upstream commit 260a8bb9f4fda0673266ddfee7668915aade8b33. Данные WikiText-2, разные train/test. Одно test prefix на длину, без статистической оценки. Это абляция механизма, не полное воспроизведение статьи.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Локальные числа: outputs/code/results/local.json. Перплексия по одной последовательности на длину. Одинаковые токены для трех режимов внутри каждой длины. Максимальная длина native model 2048, 4096 = 2x. Сама возможность forward на 4096 не доказывает успешное использование полного контекста.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1be0f7e75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79f52debc40c6" /><Relationship Type="http://schemas.openxmlformats.org/officeDocument/2006/relationships/slideLayout" Target="/ppt/slideLayouts/slideLayout1.xml" Id="R58bb4c65a738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b4c65a738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de6630fa04919" /><Relationship Type="http://schemas.openxmlformats.org/officeDocument/2006/relationships/notesSlide" Target="/ppt/notesSlides/notesSlide1.xml" Id="R333b20b2a34b44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7994b89fd4933" /><Relationship Type="http://schemas.openxmlformats.org/officeDocument/2006/relationships/image" Target="/ppt/media/image.png" Id="Rcbb7ce641c214bbc" /><Relationship Type="http://schemas.openxmlformats.org/officeDocument/2006/relationships/notesSlide" Target="/ppt/notesSlides/notesSlide2.xml" Id="Rc00c029e2af8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65d6d892d4c33" /><Relationship Type="http://schemas.openxmlformats.org/officeDocument/2006/relationships/image" Target="/ppt/media/image2.png" Id="R43d66e0d88cd488c" /><Relationship Type="http://schemas.openxmlformats.org/officeDocument/2006/relationships/notesSlide" Target="/ppt/notesSlides/notesSlide3.xml" Id="R649bd79b70ac48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f01724e114017" /><Relationship Type="http://schemas.openxmlformats.org/officeDocument/2006/relationships/image" Target="/ppt/media/image3.png" Id="Rb3b974904df24d57" /><Relationship Type="http://schemas.openxmlformats.org/officeDocument/2006/relationships/notesSlide" Target="/ppt/notesSlides/notesSlide4.xml" Id="R119fa0fc3ec6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bf0970cfb481a" /><Relationship Type="http://schemas.openxmlformats.org/officeDocument/2006/relationships/notesSlide" Target="/ppt/notesSlides/notesSlide5.xml" Id="R6852407de10143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db9a4c44e41be" /><Relationship Type="http://schemas.openxmlformats.org/officeDocument/2006/relationships/notesSlide" Target="/ppt/notesSlides/notesSlide6.xml" Id="Rcde8b31b9be248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40dba7d374810" /><Relationship Type="http://schemas.openxmlformats.org/officeDocument/2006/relationships/notesSlide" Target="/ppt/notesSlides/notesSlide7.xml" Id="R98c914a940724c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719FC-06AA-4443-84C3-AE8DA262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DroPE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586C2-F8F2-4092-9435-5FCF4231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Расширение контекста LLM</a:t>
            </a:r>
          </a:p>
          <a:p xmlns:a="http://schemas.openxmlformats.org/drawingml/2006/main">
            <a:pPr>
              <a:defRPr sz="36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после удаления позиционных эмбеддингов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AF88D-DD48-43FF-826E-6D80C25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Extending the Context of Pretrained LLMs</a:t>
            </a:r>
          </a:p>
          <a:p xmlns:a="http://schemas.openxmlformats.org/drawingml/2006/main">
            <a:pPr>
              <a:defRPr sz="22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by Dropping Their Positional Embeddings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C002F-D4D8-4FCB-AAE2-0819BB3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Gelberg et al.  /  Sakana AI, University of Oxford  / 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C4569-B123-4AF0-8758-D7957C37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4761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A4EC1-DC69-4DFB-BF20-791DCB6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Почему длинный контекст ломается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9CCB3-2CEA-4808-9245-7C9F1D13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RoPE помогает обучению, но на новых длинах меняет поведение attention.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7ce641c214bbc"/>
          <a:stretch xmlns:a="http://schemas.openxmlformats.org/drawingml/2006/main"/>
        </p:blipFill>
        <p:spPr>
          <a:xfrm xmlns:a="http://schemas.openxmlformats.org/drawingml/2006/main">
            <a:off x="2299749" y="2428875"/>
            <a:ext cx="7592503" cy="3095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19502-C608-484E-9FB8-FE15270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Хорошая перплексия еще не гарантирует поиск факта в длинном тексте.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1CC45-5BFB-4908-9F67-8F6EFF3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9456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3B957-96EC-48C5-90DA-7D43AB3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Метод DroPE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00F51-436E-4FD9-82F9-4A53DCD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Предобучение с RoPE. Затем удаление RoPE и рекалибровка на коротком контексте.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66e0d88cd488c"/>
          <a:stretch xmlns:a="http://schemas.openxmlformats.org/drawingml/2006/main"/>
        </p:blipFill>
        <p:spPr>
          <a:xfrm xmlns:a="http://schemas.openxmlformats.org/drawingml/2006/main">
            <a:off x="1651000" y="2428875"/>
            <a:ext cx="8890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6E95D-AC0C-434C-9077-6A26D8A0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Causal mask остается. Длинные последовательности не нужны для рекалибровки.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A1CD8-8BFF-4C11-96DC-2E80E96D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3452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74339-BA3B-49F4-900B-0DF75D3D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Почему RoPE полезен именно в обучении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DCB7A-9B30-4401-8CE0-A140967F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Без RoPE позиционные закономерности труднее выучить с нуля.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974904df24d57"/>
          <a:stretch xmlns:a="http://schemas.openxmlformats.org/drawingml/2006/main"/>
        </p:blipFill>
        <p:spPr>
          <a:xfrm xmlns:a="http://schemas.openxmlformats.org/drawingml/2006/main">
            <a:off x="1452563" y="2286000"/>
            <a:ext cx="9286875" cy="3095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D5E50-D931-431B-B1A5-62F6366C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Результат авторов: 14B токенов с RoPE + 2B после удаления</a:t>
            </a:r>
          </a:p>
          <a:p xmlns:a="http://schemas.openxmlformats.org/drawingml/2006/main">
            <a:pPr>
              <a:defRPr sz="210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достигают качества RoPE при том же общем бюджете.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D894B-349B-4AAB-BCCB-8968A042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5988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9D66-0576-4497-B1D7-59D765A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Опубликованные результаты авторов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C47CB-1DF3-47CA-8353-43A5FF55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SmolLM-360M: LongBench и поиск «иголки» в контексте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619375"/>
                <a:gridCol w="2581275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Средний score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NIAH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Исходная модель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2,98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RoPE-NTK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17,11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29,84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YaRN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19,94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48,25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DroPE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30,52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74,92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1444-FFC0-4BBE-A1A8-3EE0B00C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Таблица 2 статьи. Эти значения получены авторами.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9D283-B97D-479A-9EE7-9E5D7B6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9001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4B76E-E45C-401C-BD79-3EF5C7A4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Локальный эксперимент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A27B7-5B98-40EA-834D-6D4B972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SmolLM-360M и неизмененный NoPE attention из кода авторов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043D6-6E49-46F0-B82C-6C139F41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Сравнение: RoPE, удаление без обучения, микрорекалибровка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WikiText-2: отдельные train и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16 шагов по 256 токенов, всего 4096 обучающих токенов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Перплексия на префиксах длиной 256, 2048 и 4096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922BA-30AD-4DE0-8FE0-C2FB6ECA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4023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A92DC-BC9B-4288-8E3C-38BC2D93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544"/>
                </a:solidFill>
                <a:latin typeface="Arial"/>
                <a:ea typeface="Arial"/>
                <a:cs typeface="Arial"/>
              </a:rPr>
              <a:t>Результаты локального запуска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DB610-09B3-47E4-A0DF-A2A5D93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5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544"/>
                </a:solidFill>
                <a:latin typeface="Arial"/>
                <a:ea typeface="Arial"/>
                <a:cs typeface="Arial"/>
              </a:rPr>
              <a:t>Перплексия, меньше лучше. Одна test-последовательность на длину.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952625"/>
                <a:gridCol w="1952625"/>
                <a:gridCol w="196215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Режим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256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2048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4096</a:t>
                      </a:r>
                    </a:p>
                  </a:txBody>
                  <a:tcPr marL="91440" marR="91440" marT="45720" marB="45720">
                    <a:solidFill>
                      <a:srgbClr val="17354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Исходная RoPE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22,2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9,7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63,2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Удаление без обучения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270,1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491,7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541,5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После 16 шагов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135,0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258,6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544"/>
                          </a:solidFill>
                          <a:latin typeface="Arial"/>
                          <a:ea typeface="Arial"/>
                          <a:cs typeface="Arial"/>
                        </a:rPr>
                        <a:t>296,2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C6063-7DCE-449F-BD2C-4C08C77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Структурные проверки прошли: causal mask и uniform attention.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Малый бюджет не позволяет подтвердить числа статьи.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729E4-F8AB-46AA-BECB-D5D831D9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0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6564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2026-10-10T14:35:24.2950000Z</dcterms:created>
  <dcterms:modified xsi:type="dcterms:W3CDTF">2026-10-10T14:35:24.2950000Z</dcterms:modified>
</coreProperties>
</file>